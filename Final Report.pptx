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22"/>
  </p:notesMasterIdLst>
  <p:sldIdLst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8AA905-4B57-44D1-9D28-AA9887A5901E}">
  <a:tblStyle styleId="{C78AA905-4B57-44D1-9D28-AA9887A590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68"/>
  </p:normalViewPr>
  <p:slideViewPr>
    <p:cSldViewPr snapToGrid="0">
      <p:cViewPr varScale="1">
        <p:scale>
          <a:sx n="145" d="100"/>
          <a:sy n="145" d="100"/>
        </p:scale>
        <p:origin x="776" y="4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Landey" userId="2f3d1f9247949c92" providerId="LiveId" clId="{BCDB1590-8345-5A0C-9E3D-3C5C94F660F8}"/>
    <pc:docChg chg="delSld modSld">
      <pc:chgData name="Ryan Landey" userId="2f3d1f9247949c92" providerId="LiveId" clId="{BCDB1590-8345-5A0C-9E3D-3C5C94F660F8}" dt="2025-12-31T00:44:16.112" v="3" actId="2696"/>
      <pc:docMkLst>
        <pc:docMk/>
      </pc:docMkLst>
      <pc:sldChg chg="del mod modShow">
        <pc:chgData name="Ryan Landey" userId="2f3d1f9247949c92" providerId="LiveId" clId="{BCDB1590-8345-5A0C-9E3D-3C5C94F660F8}" dt="2025-12-31T00:44:11.254" v="2" actId="2696"/>
        <pc:sldMkLst>
          <pc:docMk/>
          <pc:sldMk cId="0" sldId="256"/>
        </pc:sldMkLst>
      </pc:sldChg>
      <pc:sldChg chg="del mod modShow">
        <pc:chgData name="Ryan Landey" userId="2f3d1f9247949c92" providerId="LiveId" clId="{BCDB1590-8345-5A0C-9E3D-3C5C94F660F8}" dt="2025-12-31T00:44:16.112" v="3" actId="2696"/>
        <pc:sldMkLst>
          <pc:docMk/>
          <pc:sldMk cId="0" sldId="257"/>
        </pc:sldMkLst>
      </pc:sldChg>
      <pc:sldMasterChg chg="delSldLayout">
        <pc:chgData name="Ryan Landey" userId="2f3d1f9247949c92" providerId="LiveId" clId="{BCDB1590-8345-5A0C-9E3D-3C5C94F660F8}" dt="2025-12-31T00:44:16.112" v="3" actId="2696"/>
        <pc:sldMasterMkLst>
          <pc:docMk/>
          <pc:sldMasterMk cId="0" sldId="2147483671"/>
        </pc:sldMasterMkLst>
        <pc:sldLayoutChg chg="del">
          <pc:chgData name="Ryan Landey" userId="2f3d1f9247949c92" providerId="LiveId" clId="{BCDB1590-8345-5A0C-9E3D-3C5C94F660F8}" dt="2025-12-31T00:44:16.112" v="3" actId="2696"/>
          <pc:sldLayoutMkLst>
            <pc:docMk/>
            <pc:sldMasterMk cId="0" sldId="2147483671"/>
            <pc:sldLayoutMk cId="0" sldId="214748366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36d722e0a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36d722e0a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b042a5615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b042a5615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35a8f87dd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35a8f87dd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b042a561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8b042a56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ad5676f1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8ad5676f1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of LogReturn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is used in calculation. Give example.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27c9a009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27c9a009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9fdf49d0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89fdf49d0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36d722e0a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a36d722e0a_1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a2a9798c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8a2a9798c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36d722e0a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36d722e0a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36d722e0a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a36d722e0a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36d722e0a_3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a36d722e0a_3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34297de44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a34297de44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36d722e0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36d722e0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Tau = Scaling parameter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d9e74ae0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ad9e74ae0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d9e74ae0b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ad9e74ae0b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d9e74ae0b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ad9e74ae0b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d9e74ae0b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ad9e74ae0b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8b042a561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8b042a561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685800" y="1597821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5712824" y="43545"/>
            <a:ext cx="36381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3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FINANCIAL MATHEMATICS</a:t>
            </a:r>
            <a:endParaRPr sz="1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457200" y="675085"/>
            <a:ext cx="8229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457200" y="2266950"/>
            <a:ext cx="8229600" cy="23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722313" y="1035563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457200" y="675085"/>
            <a:ext cx="8229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457200" y="1476377"/>
            <a:ext cx="4038600" cy="31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2"/>
          </p:nvPr>
        </p:nvSpPr>
        <p:spPr>
          <a:xfrm>
            <a:off x="4648200" y="1476377"/>
            <a:ext cx="4038600" cy="31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457203" y="650504"/>
            <a:ext cx="8229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2"/>
          </p:nvPr>
        </p:nvSpPr>
        <p:spPr>
          <a:xfrm>
            <a:off x="4645029" y="1631156"/>
            <a:ext cx="40416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457204" y="204787"/>
            <a:ext cx="3008400" cy="8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3575050" y="204790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431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2"/>
          </p:nvPr>
        </p:nvSpPr>
        <p:spPr>
          <a:xfrm>
            <a:off x="457204" y="1076327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1792288" y="3600451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2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>
            <a:spLocks noGrp="1"/>
          </p:cNvSpPr>
          <p:nvPr>
            <p:ph type="title"/>
          </p:nvPr>
        </p:nvSpPr>
        <p:spPr>
          <a:xfrm>
            <a:off x="457200" y="675085"/>
            <a:ext cx="8229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body" idx="1"/>
          </p:nvPr>
        </p:nvSpPr>
        <p:spPr>
          <a:xfrm rot="5400000">
            <a:off x="3408150" y="-684000"/>
            <a:ext cx="23277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>
            <a:spLocks noGrp="1"/>
          </p:cNvSpPr>
          <p:nvPr>
            <p:ph type="title"/>
          </p:nvPr>
        </p:nvSpPr>
        <p:spPr>
          <a:xfrm rot="5400000">
            <a:off x="5463750" y="1371630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1"/>
          </p:nvPr>
        </p:nvSpPr>
        <p:spPr>
          <a:xfrm rot="5400000">
            <a:off x="1272750" y="-609570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675085"/>
            <a:ext cx="8229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2266950"/>
            <a:ext cx="8229600" cy="23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" y="0"/>
            <a:ext cx="9152191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5712824" y="43545"/>
            <a:ext cx="36381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3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FINANCIAL MATHEMATICS</a:t>
            </a:r>
            <a:endParaRPr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>
            <a:spLocks noGrp="1"/>
          </p:cNvSpPr>
          <p:nvPr>
            <p:ph type="body" idx="1"/>
          </p:nvPr>
        </p:nvSpPr>
        <p:spPr>
          <a:xfrm>
            <a:off x="265075" y="1229350"/>
            <a:ext cx="8229600" cy="3685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Using 101 real life quantitative trading alphas (96 delay-1 alphas)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What have we done?</a:t>
            </a:r>
            <a:endParaRPr sz="1800" b="1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Data gathering (Bloomberg, Polygon API, Filters)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Python programming(Pandas, Numpy, Linear Algebra)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Alpha tables 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Sample space &amp; supporting functions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Examined how alpha returns scale vs their own volatility and turnover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Analyzed the cross-section of pairwise alpha correlations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Tested whether each alphas is statistically significant.</a:t>
            </a:r>
            <a:endParaRPr sz="1800"/>
          </a:p>
        </p:txBody>
      </p:sp>
      <p:sp>
        <p:nvSpPr>
          <p:cNvPr id="160" name="Google Shape;160;p27"/>
          <p:cNvSpPr txBox="1"/>
          <p:nvPr/>
        </p:nvSpPr>
        <p:spPr>
          <a:xfrm>
            <a:off x="2132675" y="554400"/>
            <a:ext cx="46506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</a:rPr>
              <a:t>Project Overview</a:t>
            </a:r>
            <a:endParaRPr sz="3000" b="1">
              <a:solidFill>
                <a:schemeClr val="dk1"/>
              </a:solidFill>
            </a:endParaRPr>
          </a:p>
        </p:txBody>
      </p:sp>
      <p:sp>
        <p:nvSpPr>
          <p:cNvPr id="161" name="Google Shape;161;p27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/>
        </p:nvSpPr>
        <p:spPr>
          <a:xfrm>
            <a:off x="2880075" y="606735"/>
            <a:ext cx="31860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</a:rPr>
              <a:t>Motivation</a:t>
            </a:r>
            <a:endParaRPr sz="3000" b="1">
              <a:solidFill>
                <a:schemeClr val="dk1"/>
              </a:solidFill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332275" y="1223317"/>
            <a:ext cx="8115300" cy="3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Practical relevance for markets and risk management.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Real world portfolio management and risk management approaches.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3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Building a reusable, research-grade modeling framework. 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Hands on modeling using advanced tools and analysis..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Understand how real systematic trading works end-to-end,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Moving beyond the textbook example and to see how modern quant desks operate.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168" name="Google Shape;168;p28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/>
        </p:nvSpPr>
        <p:spPr>
          <a:xfrm>
            <a:off x="2132675" y="606735"/>
            <a:ext cx="46506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</a:rPr>
              <a:t>Project Workflow</a:t>
            </a:r>
            <a:endParaRPr sz="3000" b="1">
              <a:solidFill>
                <a:schemeClr val="dk1"/>
              </a:solidFill>
            </a:endParaRPr>
          </a:p>
        </p:txBody>
      </p:sp>
      <p:sp>
        <p:nvSpPr>
          <p:cNvPr id="174" name="Google Shape;174;p29"/>
          <p:cNvSpPr/>
          <p:nvPr/>
        </p:nvSpPr>
        <p:spPr>
          <a:xfrm>
            <a:off x="264886" y="1932631"/>
            <a:ext cx="2508600" cy="2560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Data Pipeline</a:t>
            </a:r>
            <a:endParaRPr sz="18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  <a:p>
            <a:pPr marL="228600" lvl="0" indent="-2095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 b="1"/>
              <a:t>Data Collection </a:t>
            </a:r>
            <a:endParaRPr sz="1500" b="1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(prices, volume, etc.)</a:t>
            </a:r>
            <a:endParaRPr/>
          </a:p>
          <a:p>
            <a:pPr marL="228600" lvl="0" indent="-2095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Data Preprocessing </a:t>
            </a:r>
            <a:r>
              <a:rPr lang="en">
                <a:solidFill>
                  <a:schemeClr val="dk1"/>
                </a:solidFill>
              </a:rPr>
              <a:t>(log return, sample space)</a:t>
            </a:r>
            <a:endParaRPr>
              <a:solidFill>
                <a:schemeClr val="dk1"/>
              </a:solidFill>
            </a:endParaRPr>
          </a:p>
          <a:p>
            <a:pPr marL="228600" lvl="0" indent="-2095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Feature Engineering </a:t>
            </a:r>
            <a:r>
              <a:rPr lang="en">
                <a:solidFill>
                  <a:schemeClr val="dk1"/>
                </a:solidFill>
              </a:rPr>
              <a:t>(supportive functions)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75" name="Google Shape;175;p29"/>
          <p:cNvSpPr/>
          <p:nvPr/>
        </p:nvSpPr>
        <p:spPr>
          <a:xfrm>
            <a:off x="3202025" y="1554386"/>
            <a:ext cx="2769000" cy="3304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</a:rPr>
              <a:t>Alpha Pipeline</a:t>
            </a:r>
            <a:endParaRPr sz="20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  <a:p>
            <a:pPr marL="228600" lvl="0" indent="-2095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600" b="1">
                <a:solidFill>
                  <a:schemeClr val="dk1"/>
                </a:solidFill>
              </a:rPr>
              <a:t>Alpha Generation</a:t>
            </a:r>
            <a:r>
              <a:rPr lang="en" sz="1500" b="1"/>
              <a:t> </a:t>
            </a:r>
            <a:endParaRPr sz="1500" b="1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>
                <a:solidFill>
                  <a:schemeClr val="dk1"/>
                </a:solidFill>
              </a:rPr>
              <a:t>96 alphas computation</a:t>
            </a:r>
            <a:r>
              <a:rPr lang="en"/>
              <a:t>)</a:t>
            </a:r>
            <a:endParaRPr/>
          </a:p>
          <a:p>
            <a:pPr marL="228600" lvl="0" indent="-2095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600" b="1">
                <a:solidFill>
                  <a:schemeClr val="dk1"/>
                </a:solidFill>
              </a:rPr>
              <a:t>Alpha Evaluation</a:t>
            </a:r>
            <a:r>
              <a:rPr lang="en" sz="1500" b="1">
                <a:solidFill>
                  <a:schemeClr val="dk1"/>
                </a:solidFill>
              </a:rPr>
              <a:t> </a:t>
            </a:r>
            <a:endParaRPr sz="1500" b="1">
              <a:solidFill>
                <a:schemeClr val="dk1"/>
              </a:solidFill>
            </a:endParaRPr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(IC, Rank IC)</a:t>
            </a:r>
            <a:endParaRPr>
              <a:solidFill>
                <a:schemeClr val="dk1"/>
              </a:solidFill>
            </a:endParaRPr>
          </a:p>
          <a:p>
            <a:pPr marL="228600" lvl="0" indent="-2095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Alpha Validation</a:t>
            </a:r>
            <a:endParaRPr sz="1500" b="1">
              <a:solidFill>
                <a:schemeClr val="dk1"/>
              </a:solidFill>
            </a:endParaRPr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(</a:t>
            </a:r>
            <a:r>
              <a:rPr lang="en">
                <a:solidFill>
                  <a:schemeClr val="dk1"/>
                </a:solidFill>
              </a:rPr>
              <a:t>hypothesis test, autocorrelation test)</a:t>
            </a:r>
            <a:endParaRPr>
              <a:solidFill>
                <a:schemeClr val="dk1"/>
              </a:solidFill>
            </a:endParaRPr>
          </a:p>
          <a:p>
            <a:pPr marL="228600" lvl="0" indent="-215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>
                <a:solidFill>
                  <a:schemeClr val="dk1"/>
                </a:solidFill>
              </a:rPr>
              <a:t>Alpha Scaling</a:t>
            </a:r>
            <a:endParaRPr sz="1600" b="1">
              <a:solidFill>
                <a:schemeClr val="dk1"/>
              </a:solidFill>
            </a:endParaRPr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(IC-IR)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6" name="Google Shape;176;p29"/>
          <p:cNvSpPr/>
          <p:nvPr/>
        </p:nvSpPr>
        <p:spPr>
          <a:xfrm>
            <a:off x="6386364" y="2048569"/>
            <a:ext cx="2508600" cy="23043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Portfolio Pipeline</a:t>
            </a:r>
            <a:endParaRPr sz="18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  <a:p>
            <a:pPr marL="228600" lvl="0" indent="-2095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 b="1"/>
              <a:t>Portfolio Construction </a:t>
            </a:r>
            <a:endParaRPr sz="1500" b="1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(</a:t>
            </a:r>
            <a:r>
              <a:rPr lang="en">
                <a:solidFill>
                  <a:schemeClr val="dk1"/>
                </a:solidFill>
              </a:rPr>
              <a:t>alphas to portfolios</a:t>
            </a:r>
            <a:r>
              <a:rPr lang="en" sz="1300"/>
              <a:t>)</a:t>
            </a:r>
            <a:endParaRPr sz="1300"/>
          </a:p>
          <a:p>
            <a:pPr marL="228600" lvl="0" indent="-2095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Execution and Trading Strategy</a:t>
            </a:r>
            <a:endParaRPr sz="1500" b="1">
              <a:solidFill>
                <a:schemeClr val="dk1"/>
              </a:solidFill>
            </a:endParaRPr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(long, short, etc.)</a:t>
            </a:r>
            <a:endParaRPr b="1">
              <a:solidFill>
                <a:schemeClr val="dk1"/>
              </a:solidFill>
            </a:endParaRPr>
          </a:p>
        </p:txBody>
      </p:sp>
      <p:cxnSp>
        <p:nvCxnSpPr>
          <p:cNvPr id="177" name="Google Shape;177;p29"/>
          <p:cNvCxnSpPr>
            <a:stCxn id="174" idx="3"/>
            <a:endCxn id="175" idx="1"/>
          </p:cNvCxnSpPr>
          <p:nvPr/>
        </p:nvCxnSpPr>
        <p:spPr>
          <a:xfrm rot="10800000" flipH="1">
            <a:off x="2773486" y="3206581"/>
            <a:ext cx="428400" cy="6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" name="Google Shape;178;p29"/>
          <p:cNvCxnSpPr>
            <a:stCxn id="175" idx="3"/>
            <a:endCxn id="176" idx="1"/>
          </p:cNvCxnSpPr>
          <p:nvPr/>
        </p:nvCxnSpPr>
        <p:spPr>
          <a:xfrm rot="10800000" flipH="1">
            <a:off x="5971025" y="3200636"/>
            <a:ext cx="415200" cy="6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9" name="Google Shape;179;p29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/>
        </p:nvSpPr>
        <p:spPr>
          <a:xfrm>
            <a:off x="439974" y="1585810"/>
            <a:ext cx="5023800" cy="22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00" tIns="80600" rIns="80600" bIns="80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/>
              <a:t>Data Source:</a:t>
            </a:r>
            <a:endParaRPr sz="1900" b="1"/>
          </a:p>
          <a:p>
            <a:pPr marL="28575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NYSE, Nasdaq → Open, High, Low, Close Price, Volume, Amount, Dividend, Stock Split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285750" lvl="0" indent="-2286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Bloomberg Terminal → Sector, Industry, Sub-Industry (GICS Classification)</a:t>
            </a:r>
            <a:endParaRPr sz="1800"/>
          </a:p>
        </p:txBody>
      </p:sp>
      <p:sp>
        <p:nvSpPr>
          <p:cNvPr id="185" name="Google Shape;185;p30"/>
          <p:cNvSpPr txBox="1"/>
          <p:nvPr/>
        </p:nvSpPr>
        <p:spPr>
          <a:xfrm>
            <a:off x="2132675" y="606735"/>
            <a:ext cx="46506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</a:rPr>
              <a:t>Data Collection</a:t>
            </a:r>
            <a:endParaRPr sz="3000" b="1">
              <a:solidFill>
                <a:schemeClr val="dk1"/>
              </a:solidFill>
            </a:endParaRPr>
          </a:p>
        </p:txBody>
      </p:sp>
      <p:pic>
        <p:nvPicPr>
          <p:cNvPr id="186" name="Google Shape;18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5438" y="1652710"/>
            <a:ext cx="3167212" cy="21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0"/>
          <p:cNvSpPr/>
          <p:nvPr/>
        </p:nvSpPr>
        <p:spPr>
          <a:xfrm>
            <a:off x="5788275" y="1967800"/>
            <a:ext cx="638400" cy="1643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0"/>
          <p:cNvSpPr/>
          <p:nvPr/>
        </p:nvSpPr>
        <p:spPr>
          <a:xfrm>
            <a:off x="5788275" y="3637225"/>
            <a:ext cx="1189500" cy="171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0"/>
          <p:cNvSpPr/>
          <p:nvPr/>
        </p:nvSpPr>
        <p:spPr>
          <a:xfrm>
            <a:off x="5896425" y="1716013"/>
            <a:ext cx="2676300" cy="2196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30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1"/>
          <p:cNvPicPr preferRelativeResize="0"/>
          <p:nvPr/>
        </p:nvPicPr>
        <p:blipFill rotWithShape="1">
          <a:blip r:embed="rId3">
            <a:alphaModFix/>
          </a:blip>
          <a:srcRect b="36844"/>
          <a:stretch/>
        </p:blipFill>
        <p:spPr>
          <a:xfrm>
            <a:off x="5026825" y="2085956"/>
            <a:ext cx="3426850" cy="116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1"/>
          <p:cNvSpPr txBox="1"/>
          <p:nvPr/>
        </p:nvSpPr>
        <p:spPr>
          <a:xfrm>
            <a:off x="2132675" y="606735"/>
            <a:ext cx="46506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</a:rPr>
              <a:t>Log Return</a:t>
            </a:r>
            <a:endParaRPr sz="3000" b="1">
              <a:solidFill>
                <a:schemeClr val="dk1"/>
              </a:solidFill>
            </a:endParaRPr>
          </a:p>
        </p:txBody>
      </p:sp>
      <p:sp>
        <p:nvSpPr>
          <p:cNvPr id="197" name="Google Shape;197;p31"/>
          <p:cNvSpPr txBox="1"/>
          <p:nvPr/>
        </p:nvSpPr>
        <p:spPr>
          <a:xfrm>
            <a:off x="183625" y="1473793"/>
            <a:ext cx="37722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00" tIns="80600" rIns="80600" bIns="80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Log Return Formula :</a:t>
            </a:r>
            <a:endParaRPr sz="1800" b="1"/>
          </a:p>
        </p:txBody>
      </p:sp>
      <p:pic>
        <p:nvPicPr>
          <p:cNvPr id="198" name="Google Shape;19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625" y="2033242"/>
            <a:ext cx="2798321" cy="74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225" y="2819647"/>
            <a:ext cx="4650599" cy="789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1"/>
          <p:cNvPicPr preferRelativeResize="0"/>
          <p:nvPr/>
        </p:nvPicPr>
        <p:blipFill rotWithShape="1">
          <a:blip r:embed="rId3">
            <a:alphaModFix/>
          </a:blip>
          <a:srcRect t="75738"/>
          <a:stretch/>
        </p:blipFill>
        <p:spPr>
          <a:xfrm>
            <a:off x="5026825" y="3445000"/>
            <a:ext cx="3426850" cy="44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1"/>
          <p:cNvPicPr preferRelativeResize="0"/>
          <p:nvPr/>
        </p:nvPicPr>
        <p:blipFill rotWithShape="1">
          <a:blip r:embed="rId6">
            <a:alphaModFix/>
          </a:blip>
          <a:srcRect l="53443" r="43269" b="42169"/>
          <a:stretch/>
        </p:blipFill>
        <p:spPr>
          <a:xfrm>
            <a:off x="8420525" y="2129081"/>
            <a:ext cx="249001" cy="176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1"/>
          <p:cNvPicPr preferRelativeResize="0"/>
          <p:nvPr/>
        </p:nvPicPr>
        <p:blipFill rotWithShape="1">
          <a:blip r:embed="rId6">
            <a:alphaModFix/>
          </a:blip>
          <a:srcRect l="53443" t="22356" r="43269" b="71662"/>
          <a:stretch/>
        </p:blipFill>
        <p:spPr>
          <a:xfrm>
            <a:off x="8016318" y="3254956"/>
            <a:ext cx="249001" cy="18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1"/>
          <p:cNvPicPr preferRelativeResize="0"/>
          <p:nvPr/>
        </p:nvPicPr>
        <p:blipFill rotWithShape="1">
          <a:blip r:embed="rId6">
            <a:alphaModFix/>
          </a:blip>
          <a:srcRect l="53443" t="22356" r="43269" b="71662"/>
          <a:stretch/>
        </p:blipFill>
        <p:spPr>
          <a:xfrm>
            <a:off x="7470493" y="3254956"/>
            <a:ext cx="249001" cy="18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1"/>
          <p:cNvPicPr preferRelativeResize="0"/>
          <p:nvPr/>
        </p:nvPicPr>
        <p:blipFill rotWithShape="1">
          <a:blip r:embed="rId6">
            <a:alphaModFix/>
          </a:blip>
          <a:srcRect l="53443" t="22356" r="43269" b="71662"/>
          <a:stretch/>
        </p:blipFill>
        <p:spPr>
          <a:xfrm>
            <a:off x="6914718" y="3254956"/>
            <a:ext cx="249001" cy="18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1"/>
          <p:cNvPicPr preferRelativeResize="0"/>
          <p:nvPr/>
        </p:nvPicPr>
        <p:blipFill rotWithShape="1">
          <a:blip r:embed="rId6">
            <a:alphaModFix/>
          </a:blip>
          <a:srcRect l="53443" t="22356" r="43269" b="71662"/>
          <a:stretch/>
        </p:blipFill>
        <p:spPr>
          <a:xfrm>
            <a:off x="6368893" y="3254956"/>
            <a:ext cx="249001" cy="18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1"/>
          <p:cNvPicPr preferRelativeResize="0"/>
          <p:nvPr/>
        </p:nvPicPr>
        <p:blipFill rotWithShape="1">
          <a:blip r:embed="rId6">
            <a:alphaModFix/>
          </a:blip>
          <a:srcRect l="53443" t="22356" r="43269" b="71662"/>
          <a:stretch/>
        </p:blipFill>
        <p:spPr>
          <a:xfrm>
            <a:off x="5813118" y="3254956"/>
            <a:ext cx="249001" cy="18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1"/>
          <p:cNvPicPr preferRelativeResize="0"/>
          <p:nvPr/>
        </p:nvPicPr>
        <p:blipFill rotWithShape="1">
          <a:blip r:embed="rId6">
            <a:alphaModFix/>
          </a:blip>
          <a:srcRect l="53443" t="22356" r="43269" b="71662"/>
          <a:stretch/>
        </p:blipFill>
        <p:spPr>
          <a:xfrm>
            <a:off x="5240293" y="3254956"/>
            <a:ext cx="249001" cy="182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1"/>
          <p:cNvSpPr txBox="1"/>
          <p:nvPr/>
        </p:nvSpPr>
        <p:spPr>
          <a:xfrm>
            <a:off x="4891975" y="1473793"/>
            <a:ext cx="40119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00" tIns="80600" rIns="80600" bIns="80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Why do we use Log Return?</a:t>
            </a:r>
            <a:endParaRPr sz="1800" b="1"/>
          </a:p>
        </p:txBody>
      </p:sp>
      <p:pic>
        <p:nvPicPr>
          <p:cNvPr id="209" name="Google Shape;209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91975" y="2085955"/>
            <a:ext cx="3929751" cy="196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>
            <a:spLocks noGrp="1"/>
          </p:cNvSpPr>
          <p:nvPr>
            <p:ph type="body" idx="1"/>
          </p:nvPr>
        </p:nvSpPr>
        <p:spPr>
          <a:xfrm>
            <a:off x="381400" y="1418700"/>
            <a:ext cx="3000000" cy="1387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800" b="1"/>
              <a:t>Sample space criteria :</a:t>
            </a:r>
            <a:endParaRPr sz="1800" b="1"/>
          </a:p>
          <a:p>
            <a:pPr marL="457200" lvl="0" indent="-3429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&gt;60 trading days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Liquidity constraint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Removed NAN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16" name="Google Shape;216;p32"/>
          <p:cNvSpPr txBox="1"/>
          <p:nvPr/>
        </p:nvSpPr>
        <p:spPr>
          <a:xfrm>
            <a:off x="2132675" y="606735"/>
            <a:ext cx="46506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</a:rPr>
              <a:t>Sample Space</a:t>
            </a:r>
            <a:endParaRPr sz="3000" b="1">
              <a:solidFill>
                <a:schemeClr val="dk1"/>
              </a:solidFill>
            </a:endParaRPr>
          </a:p>
        </p:txBody>
      </p:sp>
      <p:pic>
        <p:nvPicPr>
          <p:cNvPr id="217" name="Google Shape;21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5475" y="1705589"/>
            <a:ext cx="6002699" cy="247171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2"/>
          <p:cNvSpPr txBox="1"/>
          <p:nvPr/>
        </p:nvSpPr>
        <p:spPr>
          <a:xfrm>
            <a:off x="381400" y="3289125"/>
            <a:ext cx="30000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Key point: 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Assess the data prior to day</a:t>
            </a:r>
            <a:r>
              <a:rPr lang="en" sz="1800" b="1" baseline="-25000">
                <a:solidFill>
                  <a:schemeClr val="dk1"/>
                </a:solidFill>
              </a:rPr>
              <a:t>t</a:t>
            </a:r>
            <a:r>
              <a:rPr lang="en" sz="1800" b="1">
                <a:solidFill>
                  <a:schemeClr val="dk1"/>
                </a:solidFill>
              </a:rPr>
              <a:t> (day</a:t>
            </a:r>
            <a:r>
              <a:rPr lang="en" sz="1800" b="1" baseline="-25000">
                <a:solidFill>
                  <a:schemeClr val="dk1"/>
                </a:solidFill>
              </a:rPr>
              <a:t>t+1</a:t>
            </a:r>
            <a:r>
              <a:rPr lang="en" sz="1800" b="1">
                <a:solidFill>
                  <a:schemeClr val="dk1"/>
                </a:solidFill>
              </a:rPr>
              <a:t> and before)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219" name="Google Shape;219;p32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>
            <a:spLocks noGrp="1"/>
          </p:cNvSpPr>
          <p:nvPr>
            <p:ph type="body" idx="1"/>
          </p:nvPr>
        </p:nvSpPr>
        <p:spPr>
          <a:xfrm>
            <a:off x="457200" y="1476375"/>
            <a:ext cx="8229600" cy="3214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800"/>
              <a:t>Maps observable market occurrences to signals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rank- standardize stock value into percentile rank for each time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delay- retrieves stock’s value a number of days before </a:t>
            </a: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800"/>
              <a:t>helps with momentum or reversal signals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corr- checks whether 2 stocks moved together in given time period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5" name="Google Shape;225;p33"/>
          <p:cNvSpPr txBox="1"/>
          <p:nvPr/>
        </p:nvSpPr>
        <p:spPr>
          <a:xfrm>
            <a:off x="2132675" y="606735"/>
            <a:ext cx="46506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</a:rPr>
              <a:t>Supporting Functions</a:t>
            </a:r>
            <a:endParaRPr sz="3000" b="1">
              <a:solidFill>
                <a:schemeClr val="dk1"/>
              </a:solidFill>
            </a:endParaRPr>
          </a:p>
        </p:txBody>
      </p:sp>
      <p:sp>
        <p:nvSpPr>
          <p:cNvPr id="226" name="Google Shape;226;p33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>
            <a:spLocks noGrp="1"/>
          </p:cNvSpPr>
          <p:nvPr>
            <p:ph type="title"/>
          </p:nvPr>
        </p:nvSpPr>
        <p:spPr>
          <a:xfrm>
            <a:off x="457200" y="675085"/>
            <a:ext cx="8229600" cy="8013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Alphas</a:t>
            </a:r>
            <a:endParaRPr/>
          </a:p>
        </p:txBody>
      </p:sp>
      <p:sp>
        <p:nvSpPr>
          <p:cNvPr id="232" name="Google Shape;232;p34"/>
          <p:cNvSpPr txBox="1">
            <a:spLocks noGrp="1"/>
          </p:cNvSpPr>
          <p:nvPr>
            <p:ph type="body" idx="1"/>
          </p:nvPr>
        </p:nvSpPr>
        <p:spPr>
          <a:xfrm>
            <a:off x="457200" y="1476375"/>
            <a:ext cx="5025600" cy="3214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800"/>
              <a:t>Hypotheses about market behavior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Momentum- Stocks that have recently outperformed continue to perform well.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Mean-reversion- Prices that move too far from equilibrium tend to revert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Volatility- Captures shifts in realized or implied volatility to predict short term corrections.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Liquidity- Trades on changes in trading volume or bid ask spreads.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br>
              <a:rPr lang="en" sz="1800"/>
            </a:b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233" name="Google Shape;23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9725" y="3114375"/>
            <a:ext cx="3266325" cy="46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4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235" name="Google Shape;235;p34"/>
          <p:cNvPicPr preferRelativeResize="0"/>
          <p:nvPr/>
        </p:nvPicPr>
        <p:blipFill rotWithShape="1">
          <a:blip r:embed="rId4">
            <a:alphaModFix/>
          </a:blip>
          <a:srcRect r="5997"/>
          <a:stretch/>
        </p:blipFill>
        <p:spPr>
          <a:xfrm>
            <a:off x="5662113" y="1781800"/>
            <a:ext cx="2661550" cy="133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5" title="information coeffic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5050" y="1922025"/>
            <a:ext cx="3193903" cy="44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5"/>
          <p:cNvSpPr txBox="1">
            <a:spLocks noGrp="1"/>
          </p:cNvSpPr>
          <p:nvPr>
            <p:ph type="subTitle" idx="1"/>
          </p:nvPr>
        </p:nvSpPr>
        <p:spPr>
          <a:xfrm>
            <a:off x="407675" y="1482175"/>
            <a:ext cx="8100600" cy="28623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Construct the Information Coefficient (IC, RIC)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Hypothesis test the statistical significance of the mean IC (</a:t>
            </a:r>
            <a:r>
              <a:rPr lang="en" sz="1800" b="1">
                <a:solidFill>
                  <a:schemeClr val="dk1"/>
                </a:solidFill>
              </a:rPr>
              <a:t>H0: mean_ic &lt;=0 and HA: mean_ic &gt; 0 </a:t>
            </a:r>
            <a:r>
              <a:rPr lang="en" sz="1800">
                <a:solidFill>
                  <a:schemeClr val="dk1"/>
                </a:solidFill>
              </a:rPr>
              <a:t>for alphas with </a:t>
            </a:r>
            <a:r>
              <a:rPr lang="en" sz="1800" b="1">
                <a:solidFill>
                  <a:schemeClr val="dk1"/>
                </a:solidFill>
              </a:rPr>
              <a:t>mean_ic &gt;0</a:t>
            </a:r>
            <a:r>
              <a:rPr lang="en" sz="1800">
                <a:solidFill>
                  <a:schemeClr val="dk1"/>
                </a:solidFill>
              </a:rPr>
              <a:t>, and vice versa for alphas with </a:t>
            </a:r>
            <a:r>
              <a:rPr lang="en" sz="1800" b="1">
                <a:solidFill>
                  <a:schemeClr val="dk1"/>
                </a:solidFill>
              </a:rPr>
              <a:t>mean_ic &lt; 0</a:t>
            </a:r>
            <a:r>
              <a:rPr lang="en" sz="1800">
                <a:solidFill>
                  <a:schemeClr val="dk1"/>
                </a:solidFill>
              </a:rPr>
              <a:t>)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Does the alpha time t-1 have predictive power over the return at time t?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Since none of the standard assumptions hold, we use the Newey-West HAC (Heteroskedasticity and Autocorrelation Consistent) Standard Error estimator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2" name="Google Shape;242;p35"/>
          <p:cNvSpPr txBox="1"/>
          <p:nvPr/>
        </p:nvSpPr>
        <p:spPr>
          <a:xfrm>
            <a:off x="2132675" y="606735"/>
            <a:ext cx="46506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</a:rPr>
              <a:t>Information Coefficient</a:t>
            </a:r>
            <a:endParaRPr sz="3000" b="1">
              <a:solidFill>
                <a:schemeClr val="dk1"/>
              </a:solidFill>
            </a:endParaRPr>
          </a:p>
        </p:txBody>
      </p:sp>
      <p:sp>
        <p:nvSpPr>
          <p:cNvPr id="243" name="Google Shape;243;p35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>
            <a:spLocks noGrp="1"/>
          </p:cNvSpPr>
          <p:nvPr>
            <p:ph type="subTitle" idx="1"/>
          </p:nvPr>
        </p:nvSpPr>
        <p:spPr>
          <a:xfrm>
            <a:off x="521700" y="1355525"/>
            <a:ext cx="8100600" cy="28623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For a given alpha ell, gamma_t is autocovariance of the IC, w_l are weights that decay, and L is a cutoff param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To find L, we use the ACF and PACF tests. This is also important to see if our alphas are in a heteroskedastic and autocorrelation regime or IID regime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9" name="Google Shape;249;p36"/>
          <p:cNvSpPr txBox="1"/>
          <p:nvPr/>
        </p:nvSpPr>
        <p:spPr>
          <a:xfrm>
            <a:off x="2132675" y="606735"/>
            <a:ext cx="46506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</a:rPr>
              <a:t>Information Coefficient</a:t>
            </a:r>
            <a:endParaRPr sz="3000" b="1">
              <a:solidFill>
                <a:schemeClr val="dk1"/>
              </a:solidFill>
            </a:endParaRPr>
          </a:p>
        </p:txBody>
      </p:sp>
      <p:pic>
        <p:nvPicPr>
          <p:cNvPr id="250" name="Google Shape;250;p36" title="newey west estimat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3463" y="2046587"/>
            <a:ext cx="3057075" cy="52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1838" y="3262802"/>
            <a:ext cx="1373050" cy="16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6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>
            <a:spLocks noGrp="1"/>
          </p:cNvSpPr>
          <p:nvPr>
            <p:ph type="subTitle" idx="1"/>
          </p:nvPr>
        </p:nvSpPr>
        <p:spPr>
          <a:xfrm>
            <a:off x="571850" y="1355550"/>
            <a:ext cx="8126100" cy="14823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Once we have our (HAC) SE estimator, we conduct a single tail hypothesis testing for the mean_ic’s significance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This filters out 87 alphas, and below is a stats report of alphas with highest mean_ic, HAC filtering method, and lowest mean_ic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8" name="Google Shape;258;p37"/>
          <p:cNvSpPr txBox="1"/>
          <p:nvPr/>
        </p:nvSpPr>
        <p:spPr>
          <a:xfrm>
            <a:off x="2309600" y="606760"/>
            <a:ext cx="46506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</a:rPr>
              <a:t>Alpha Filtering</a:t>
            </a:r>
            <a:endParaRPr sz="3000" b="1">
              <a:solidFill>
                <a:schemeClr val="dk1"/>
              </a:solidFill>
            </a:endParaRPr>
          </a:p>
        </p:txBody>
      </p:sp>
      <p:graphicFrame>
        <p:nvGraphicFramePr>
          <p:cNvPr id="259" name="Google Shape;259;p37"/>
          <p:cNvGraphicFramePr/>
          <p:nvPr/>
        </p:nvGraphicFramePr>
        <p:xfrm>
          <a:off x="1862225" y="2900375"/>
          <a:ext cx="5419550" cy="1967260"/>
        </p:xfrm>
        <a:graphic>
          <a:graphicData uri="http://schemas.openxmlformats.org/drawingml/2006/table">
            <a:tbl>
              <a:tblPr>
                <a:noFill/>
                <a:tableStyleId>{C78AA905-4B57-44D1-9D28-AA9887A5901E}</a:tableStyleId>
              </a:tblPr>
              <a:tblGrid>
                <a:gridCol w="92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2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6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6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alpha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n_ic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mean_ic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t_stat_ic     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p_value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se_method</a:t>
                      </a:r>
                      <a:endParaRPr sz="13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alpha_16    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153    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0.016889    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0.002676    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1.4e-9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IID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alpha_15   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153    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0.012314    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0.002337    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2.3e-07     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HAC (nlags=5)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alpha_5    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116   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-0.022782        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-3.011303      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1.6e-03     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IID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0" name="Google Shape;260;p37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 txBox="1"/>
          <p:nvPr/>
        </p:nvSpPr>
        <p:spPr>
          <a:xfrm>
            <a:off x="1617900" y="606750"/>
            <a:ext cx="59082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</a:rPr>
              <a:t>Alpha Correlation Heatmap</a:t>
            </a:r>
            <a:endParaRPr sz="3000" b="1">
              <a:solidFill>
                <a:schemeClr val="dk1"/>
              </a:solidFill>
            </a:endParaRPr>
          </a:p>
        </p:txBody>
      </p:sp>
      <p:pic>
        <p:nvPicPr>
          <p:cNvPr id="266" name="Google Shape;266;p38" title="final alph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675" y="1221225"/>
            <a:ext cx="4258650" cy="384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8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9"/>
          <p:cNvSpPr txBox="1">
            <a:spLocks noGrp="1"/>
          </p:cNvSpPr>
          <p:nvPr>
            <p:ph type="subTitle" idx="1"/>
          </p:nvPr>
        </p:nvSpPr>
        <p:spPr>
          <a:xfrm>
            <a:off x="0" y="2728750"/>
            <a:ext cx="6611100" cy="2278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Standardization: Cross-Sectional z-score (day t) for alpha j: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ICIR: Information Coefficient Information Ratio,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	Used for scaling each alpha value based on its strength.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	It also flips the sign of alphas with negative IC value.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73" name="Google Shape;273;p39"/>
          <p:cNvPicPr preferRelativeResize="0"/>
          <p:nvPr/>
        </p:nvPicPr>
        <p:blipFill rotWithShape="1">
          <a:blip r:embed="rId3">
            <a:alphaModFix/>
          </a:blip>
          <a:srcRect r="5997"/>
          <a:stretch/>
        </p:blipFill>
        <p:spPr>
          <a:xfrm>
            <a:off x="6175425" y="739325"/>
            <a:ext cx="2889150" cy="133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3875" y="3833434"/>
            <a:ext cx="2999425" cy="11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9"/>
          <p:cNvPicPr preferRelativeResize="0"/>
          <p:nvPr/>
        </p:nvPicPr>
        <p:blipFill rotWithShape="1">
          <a:blip r:embed="rId5">
            <a:alphaModFix/>
          </a:blip>
          <a:srcRect l="38641" t="24783" r="32515"/>
          <a:stretch/>
        </p:blipFill>
        <p:spPr>
          <a:xfrm>
            <a:off x="6455037" y="2571750"/>
            <a:ext cx="2082924" cy="103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9"/>
          <p:cNvSpPr txBox="1"/>
          <p:nvPr/>
        </p:nvSpPr>
        <p:spPr>
          <a:xfrm>
            <a:off x="54300" y="621750"/>
            <a:ext cx="62697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</a:rPr>
              <a:t>Constructing the trading strategy</a:t>
            </a:r>
            <a:endParaRPr sz="3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</a:rPr>
              <a:t>				(long only)</a:t>
            </a:r>
            <a:endParaRPr sz="3000" b="1">
              <a:solidFill>
                <a:schemeClr val="dk1"/>
              </a:solidFill>
            </a:endParaRPr>
          </a:p>
        </p:txBody>
      </p:sp>
      <p:sp>
        <p:nvSpPr>
          <p:cNvPr id="277" name="Google Shape;277;p39"/>
          <p:cNvSpPr txBox="1"/>
          <p:nvPr/>
        </p:nvSpPr>
        <p:spPr>
          <a:xfrm>
            <a:off x="138175" y="1955500"/>
            <a:ext cx="80805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Statistically significant Alphas: </a:t>
            </a:r>
            <a:r>
              <a:rPr lang="en" sz="1800" u="sng">
                <a:solidFill>
                  <a:schemeClr val="dk1"/>
                </a:solidFill>
              </a:rPr>
              <a:t>16, 13, 15, 44, 6, 40, 69, 5, 11</a:t>
            </a: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8" name="Google Shape;278;p39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>
            <a:spLocks noGrp="1"/>
          </p:cNvSpPr>
          <p:nvPr>
            <p:ph type="subTitle" idx="1"/>
          </p:nvPr>
        </p:nvSpPr>
        <p:spPr>
          <a:xfrm>
            <a:off x="1120375" y="2613650"/>
            <a:ext cx="6400800" cy="245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SoftMax Weights: Used to give more weightage to the most significant stocks.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pic>
        <p:nvPicPr>
          <p:cNvPr id="284" name="Google Shape;284;p40"/>
          <p:cNvPicPr preferRelativeResize="0"/>
          <p:nvPr/>
        </p:nvPicPr>
        <p:blipFill rotWithShape="1">
          <a:blip r:embed="rId3">
            <a:alphaModFix/>
          </a:blip>
          <a:srcRect l="30979" t="25528" r="31482"/>
          <a:stretch/>
        </p:blipFill>
        <p:spPr>
          <a:xfrm>
            <a:off x="2912975" y="1270750"/>
            <a:ext cx="3318050" cy="12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0"/>
          <p:cNvSpPr txBox="1"/>
          <p:nvPr/>
        </p:nvSpPr>
        <p:spPr>
          <a:xfrm>
            <a:off x="1057575" y="778750"/>
            <a:ext cx="5966100" cy="4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Final per-stock score (day t):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86" name="Google Shape;28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5125" y="3309800"/>
            <a:ext cx="333375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0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1"/>
          <p:cNvSpPr txBox="1">
            <a:spLocks noGrp="1"/>
          </p:cNvSpPr>
          <p:nvPr>
            <p:ph type="ctrTitle"/>
          </p:nvPr>
        </p:nvSpPr>
        <p:spPr>
          <a:xfrm>
            <a:off x="579125" y="461347"/>
            <a:ext cx="7572900" cy="13104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Daily Alpha Candidates and Trade Executions</a:t>
            </a:r>
            <a:endParaRPr sz="3000"/>
          </a:p>
        </p:txBody>
      </p:sp>
      <p:pic>
        <p:nvPicPr>
          <p:cNvPr id="293" name="Google Shape;29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30897"/>
            <a:ext cx="8839202" cy="2519296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2"/>
          <p:cNvSpPr txBox="1">
            <a:spLocks noGrp="1"/>
          </p:cNvSpPr>
          <p:nvPr>
            <p:ph type="ctrTitle"/>
          </p:nvPr>
        </p:nvSpPr>
        <p:spPr>
          <a:xfrm>
            <a:off x="808500" y="743822"/>
            <a:ext cx="6882300" cy="3261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Multi-Alpha Strategy NAV</a:t>
            </a:r>
            <a:endParaRPr sz="3000"/>
          </a:p>
        </p:txBody>
      </p:sp>
      <p:sp>
        <p:nvSpPr>
          <p:cNvPr id="300" name="Google Shape;300;p42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1" name="Google Shape;30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63" y="1550900"/>
            <a:ext cx="8866875" cy="29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2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3"/>
          <p:cNvSpPr txBox="1">
            <a:spLocks noGrp="1"/>
          </p:cNvSpPr>
          <p:nvPr>
            <p:ph type="ctrTitle"/>
          </p:nvPr>
        </p:nvSpPr>
        <p:spPr>
          <a:xfrm>
            <a:off x="695625" y="758547"/>
            <a:ext cx="6882300" cy="3261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10 Stocks by Net Realized Cashflow</a:t>
            </a:r>
            <a:endParaRPr sz="3000"/>
          </a:p>
        </p:txBody>
      </p:sp>
      <p:pic>
        <p:nvPicPr>
          <p:cNvPr id="308" name="Google Shape;30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575" y="1393850"/>
            <a:ext cx="8829224" cy="34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3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4"/>
          <p:cNvSpPr txBox="1">
            <a:spLocks noGrp="1"/>
          </p:cNvSpPr>
          <p:nvPr>
            <p:ph type="ctrTitle"/>
          </p:nvPr>
        </p:nvSpPr>
        <p:spPr>
          <a:xfrm>
            <a:off x="695625" y="758547"/>
            <a:ext cx="6882300" cy="3261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Back-Testing Report</a:t>
            </a:r>
            <a:endParaRPr sz="3000"/>
          </a:p>
        </p:txBody>
      </p:sp>
      <p:sp>
        <p:nvSpPr>
          <p:cNvPr id="315" name="Google Shape;315;p44"/>
          <p:cNvSpPr txBox="1"/>
          <p:nvPr/>
        </p:nvSpPr>
        <p:spPr>
          <a:xfrm>
            <a:off x="2208575" y="1653950"/>
            <a:ext cx="4642800" cy="34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Start NAV : 100000000.00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End NAV : 142749181.01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Total Return : 42.75%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Annualized Return : 42.89%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Annualized Vol : 28.85%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Sharpe Ratio : 1.49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Max Drawdown : -24.99%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316" name="Google Shape;316;p44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5"/>
          <p:cNvSpPr txBox="1">
            <a:spLocks noGrp="1"/>
          </p:cNvSpPr>
          <p:nvPr>
            <p:ph type="ctrTitle"/>
          </p:nvPr>
        </p:nvSpPr>
        <p:spPr>
          <a:xfrm>
            <a:off x="2494200" y="2203918"/>
            <a:ext cx="4155600" cy="1102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Thank You </a:t>
            </a:r>
            <a:endParaRPr sz="3500"/>
          </a:p>
        </p:txBody>
      </p:sp>
      <p:sp>
        <p:nvSpPr>
          <p:cNvPr id="322" name="Google Shape;322;p45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CStateU-horizontal-left-logo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836</Words>
  <Application>Microsoft Macintosh PowerPoint</Application>
  <PresentationFormat>On-screen Show (16:9)</PresentationFormat>
  <Paragraphs>161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Open Sans</vt:lpstr>
      <vt:lpstr>Simple Light</vt:lpstr>
      <vt:lpstr>NCStateU-horizontal-left-logo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Alphas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Daily Alpha Candidates and Trade Executions</vt:lpstr>
      <vt:lpstr>Multi-Alpha Strategy NAV</vt:lpstr>
      <vt:lpstr>Top 10 Stocks by Net Realized Cashflow</vt:lpstr>
      <vt:lpstr>Back-Testing Report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Ryan Landey</cp:lastModifiedBy>
  <cp:revision>1</cp:revision>
  <dcterms:modified xsi:type="dcterms:W3CDTF">2025-12-31T00:44:21Z</dcterms:modified>
</cp:coreProperties>
</file>